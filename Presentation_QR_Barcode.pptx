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1B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731520"/>
            <a:ext cx="3200400" cy="3200400"/>
          </a:xfrm>
          <a:prstGeom prst="ellipse">
            <a:avLst/>
          </a:prstGeom>
          <a:solidFill>
            <a:srgbClr val="0D47A1">
              <a:alpha val="40000"/>
            </a:srgbClr>
          </a:solidFill>
          <a:ln w="12700">
            <a:solidFill>
              <a:srgbClr val="0D47A1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-182880"/>
            <a:ext cx="2011680" cy="2011680"/>
          </a:xfrm>
          <a:prstGeom prst="ellipse">
            <a:avLst/>
          </a:prstGeom>
          <a:solidFill>
            <a:srgbClr val="1976D2">
              <a:alpha val="50000"/>
            </a:srgbClr>
          </a:solidFill>
          <a:ln w="12700">
            <a:solidFill>
              <a:srgbClr val="1976D2">
                <a:alpha val="5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0"/>
            <a:ext cx="8046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 and Barcode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System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310896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Processing — Resit Examination  |  Spring 2025–2026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44805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Asian University  |  Image Processing  |  Ismoil Rahimov  |  230514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1B4E"/>
          </a:solidFill>
          <a:ln w="12700">
            <a:solidFill>
              <a:srgbClr val="021B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Outline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114800" cy="749808"/>
          </a:xfrm>
          <a:prstGeom prst="roundRect">
            <a:avLst>
              <a:gd name="adj" fmla="val 7317"/>
            </a:avLst>
          </a:prstGeom>
          <a:solidFill>
            <a:srgbClr val="0D47A1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0584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1005840"/>
            <a:ext cx="33832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&amp; Motivation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4114800" cy="749808"/>
          </a:xfrm>
          <a:prstGeom prst="roundRect">
            <a:avLst>
              <a:gd name="adj" fmla="val 7317"/>
            </a:avLst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92024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97280" y="1920240"/>
            <a:ext cx="33832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834640"/>
            <a:ext cx="4114800" cy="749808"/>
          </a:xfrm>
          <a:prstGeom prst="roundRect">
            <a:avLst>
              <a:gd name="adj" fmla="val 7317"/>
            </a:avLst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83464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97280" y="2834640"/>
            <a:ext cx="33832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&amp; Pipeline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749040"/>
            <a:ext cx="4114800" cy="749808"/>
          </a:xfrm>
          <a:prstGeom prst="roundRect">
            <a:avLst>
              <a:gd name="adj" fmla="val 7317"/>
            </a:avLst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74904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97280" y="3749040"/>
            <a:ext cx="33832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Description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46320" y="1005840"/>
            <a:ext cx="4114800" cy="749808"/>
          </a:xfrm>
          <a:prstGeom prst="roundRect">
            <a:avLst>
              <a:gd name="adj" fmla="val 7317"/>
            </a:avLst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100584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486400" y="1005840"/>
            <a:ext cx="33832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Setup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46320" y="1920240"/>
            <a:ext cx="4114800" cy="749808"/>
          </a:xfrm>
          <a:prstGeom prst="roundRect">
            <a:avLst>
              <a:gd name="adj" fmla="val 7317"/>
            </a:avLst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192024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486400" y="1920240"/>
            <a:ext cx="33832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Evaluation Metrics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46320" y="2834640"/>
            <a:ext cx="4114800" cy="749808"/>
          </a:xfrm>
          <a:prstGeom prst="roundRect">
            <a:avLst>
              <a:gd name="adj" fmla="val 7317"/>
            </a:avLst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283464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486400" y="2834640"/>
            <a:ext cx="33832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&amp; Conclusion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46320" y="3749040"/>
            <a:ext cx="4114800" cy="749808"/>
          </a:xfrm>
          <a:prstGeom prst="roundRect">
            <a:avLst>
              <a:gd name="adj" fmla="val 7317"/>
            </a:avLst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374904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486400" y="3749040"/>
            <a:ext cx="33832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 &amp; Q&amp;A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1B4E"/>
          </a:solidFill>
          <a:ln w="12700">
            <a:solidFill>
              <a:srgbClr val="021B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QR Codes &amp; Barcodes?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50292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 (Quick Response) — a 2D matrix barcode that stores data in a grid of black and white squares. Created by Denso Wave (Japan, 1994).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Barcode — a 1D optical label consisting of parallel lines encoding numbers and characters (EAN-13, Code 128, etc.).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decoded by cameras and optical scanners, enabling fast data retrieval without manual entry.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0" y="1005840"/>
            <a:ext cx="3200400" cy="749808"/>
          </a:xfrm>
          <a:prstGeom prst="roundRect">
            <a:avLst>
              <a:gd name="adj" fmla="val 9756"/>
            </a:avLst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669280" y="1005840"/>
            <a:ext cx="3200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Payments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0" y="1920240"/>
            <a:ext cx="3200400" cy="749808"/>
          </a:xfrm>
          <a:prstGeom prst="roundRect">
            <a:avLst>
              <a:gd name="adj" fmla="val 9756"/>
            </a:avLst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0" y="1920240"/>
            <a:ext cx="3200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🎫 Ticketing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669280" y="2834640"/>
            <a:ext cx="3200400" cy="749808"/>
          </a:xfrm>
          <a:prstGeom prst="roundRect">
            <a:avLst>
              <a:gd name="adj" fmla="val 9756"/>
            </a:avLst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669280" y="2834640"/>
            <a:ext cx="3200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Logistics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669280" y="3749040"/>
            <a:ext cx="3200400" cy="749808"/>
          </a:xfrm>
          <a:prstGeom prst="roundRect">
            <a:avLst>
              <a:gd name="adj" fmla="val 9756"/>
            </a:avLst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669280" y="3749040"/>
            <a:ext cx="3200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Web links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1B4E"/>
          </a:solidFill>
          <a:ln w="12700">
            <a:solidFill>
              <a:srgbClr val="021B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 digital image or live video — the system must: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3977640" cy="1280160"/>
          </a:xfrm>
          <a:prstGeom prst="roundRect">
            <a:avLst>
              <a:gd name="adj" fmla="val 5714"/>
            </a:avLst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554480"/>
            <a:ext cx="914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🔍 Locate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371600" y="160020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all QR / barcodes in the scene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71600" y="15544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1508760"/>
            <a:ext cx="3977640" cy="1280160"/>
          </a:xfrm>
          <a:prstGeom prst="roundRect">
            <a:avLst>
              <a:gd name="adj" fmla="val 5714"/>
            </a:avLst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1554480"/>
            <a:ext cx="914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📖 Decode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669280" y="160020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binary pattern → readable text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69280" y="15544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2971800"/>
            <a:ext cx="3977640" cy="1280160"/>
          </a:xfrm>
          <a:prstGeom prst="roundRect">
            <a:avLst>
              <a:gd name="adj" fmla="val 5714"/>
            </a:avLst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3017520"/>
            <a:ext cx="914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🖼 Visualise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371600" y="306324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bounding boxes + overlay decoded text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371600" y="30175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663440" y="2971800"/>
            <a:ext cx="3977640" cy="1280160"/>
          </a:xfrm>
          <a:prstGeom prst="roundRect">
            <a:avLst>
              <a:gd name="adj" fmla="val 5714"/>
            </a:avLst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54880" y="3017520"/>
            <a:ext cx="914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⚡ Real-time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5669280" y="306324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≥ 20 FPS on a standard CPU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669280" y="30175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1B4E"/>
          </a:solidFill>
          <a:ln w="12700">
            <a:solidFill>
              <a:srgbClr val="021B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Pipeline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1097280"/>
            <a:ext cx="1417320" cy="2286000"/>
          </a:xfrm>
          <a:prstGeom prst="roundRect">
            <a:avLst>
              <a:gd name="adj" fmla="val 6452"/>
            </a:avLst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1228" y="1207008"/>
            <a:ext cx="512064" cy="512064"/>
          </a:xfrm>
          <a:prstGeom prst="ellipse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1228" y="12070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1810512"/>
            <a:ext cx="1325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" y="2560320"/>
            <a:ext cx="1325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cv2.imread()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VideoCapture()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664208" y="2240280"/>
            <a:ext cx="164592" cy="0"/>
          </a:xfrm>
          <a:prstGeom prst="line">
            <a:avLst/>
          </a:prstGeom>
          <a:noFill/>
          <a:ln w="25400">
            <a:solidFill>
              <a:srgbClr val="1976D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28800" y="1097280"/>
            <a:ext cx="1417320" cy="2286000"/>
          </a:xfrm>
          <a:prstGeom prst="roundRect">
            <a:avLst>
              <a:gd name="adj" fmla="val 6452"/>
            </a:avLst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281428" y="1207008"/>
            <a:ext cx="512064" cy="512064"/>
          </a:xfrm>
          <a:prstGeom prst="ellipse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1428" y="12070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874520" y="1810512"/>
            <a:ext cx="1325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874520" y="2560320"/>
            <a:ext cx="1325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to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QRCodeDetector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64408" y="2240280"/>
            <a:ext cx="164592" cy="0"/>
          </a:xfrm>
          <a:prstGeom prst="line">
            <a:avLst/>
          </a:prstGeom>
          <a:noFill/>
          <a:ln w="25400">
            <a:solidFill>
              <a:srgbClr val="1976D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29000" y="1097280"/>
            <a:ext cx="1417320" cy="2286000"/>
          </a:xfrm>
          <a:prstGeom prst="roundRect">
            <a:avLst>
              <a:gd name="adj" fmla="val 6452"/>
            </a:avLst>
          </a:prstGeom>
          <a:solidFill>
            <a:srgbClr val="0D47A1"/>
          </a:solidFill>
          <a:ln w="12700">
            <a:solidFill>
              <a:srgbClr val="90CAF9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881628" y="1207008"/>
            <a:ext cx="512064" cy="5120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81628" y="12070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474720" y="1810512"/>
            <a:ext cx="1325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Decode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474720" y="2560320"/>
            <a:ext cx="1325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detectAndDecodeMulti()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864608" y="2240280"/>
            <a:ext cx="164592" cy="0"/>
          </a:xfrm>
          <a:prstGeom prst="line">
            <a:avLst/>
          </a:prstGeom>
          <a:noFill/>
          <a:ln w="25400">
            <a:solidFill>
              <a:srgbClr val="1976D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0" y="1097280"/>
            <a:ext cx="1417320" cy="2286000"/>
          </a:xfrm>
          <a:prstGeom prst="roundRect">
            <a:avLst>
              <a:gd name="adj" fmla="val 6452"/>
            </a:avLst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81828" y="1207008"/>
            <a:ext cx="512064" cy="512064"/>
          </a:xfrm>
          <a:prstGeom prst="ellipse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1828" y="12070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074920" y="1810512"/>
            <a:ext cx="1325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74920" y="2560320"/>
            <a:ext cx="1325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polylines() +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putText()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464808" y="2240280"/>
            <a:ext cx="164592" cy="0"/>
          </a:xfrm>
          <a:prstGeom prst="line">
            <a:avLst/>
          </a:prstGeom>
          <a:noFill/>
          <a:ln w="25400">
            <a:solidFill>
              <a:srgbClr val="1976D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629400" y="1097280"/>
            <a:ext cx="1417320" cy="2286000"/>
          </a:xfrm>
          <a:prstGeom prst="roundRect">
            <a:avLst>
              <a:gd name="adj" fmla="val 6452"/>
            </a:avLst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082028" y="1207008"/>
            <a:ext cx="512064" cy="512064"/>
          </a:xfrm>
          <a:prstGeom prst="ellipse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82028" y="12070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675120" y="1810512"/>
            <a:ext cx="1325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675120" y="2560320"/>
            <a:ext cx="1325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/ Save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results/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65760" y="36576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Core: cv2.QRCodeDetector().detectAndDecodeMulti(frame)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1B4E"/>
          </a:solidFill>
          <a:ln w="12700">
            <a:solidFill>
              <a:srgbClr val="021B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Description</a:t>
            </a:r>
            <a:endParaRPr lang="en-US" sz="2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1B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 Images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1B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Resolution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1B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1B4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Ideal QR codes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640×480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White background, upright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Rotated / skewed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640×480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to 45° tilt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Real-world photos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1280×720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Mixed lighting, distance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dataset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931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sourced from: self-generated QR codes (qr-code-generator.com) and real-world product photographs taken under varied conditions.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1B4E"/>
          </a:solidFill>
          <a:ln w="12700">
            <a:solidFill>
              <a:srgbClr val="021B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Setup &amp; Code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972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Language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2103120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21945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Library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5146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4.8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3200400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32918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 CPU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36118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 Core i5 (8th Gen)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1005840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00600" y="10972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🎥 Camera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00600" y="14173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720p webcam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2103120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00600" y="21945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RAM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00600" y="25146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GB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4297680"/>
            <a:ext cx="8412480" cy="658368"/>
          </a:xfrm>
          <a:prstGeom prst="roundRect">
            <a:avLst>
              <a:gd name="adj" fmla="val 8333"/>
            </a:avLst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4315968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CB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detector = cv2.QRCodeDetector()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0CB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ok, decoded, points, _ = detector.detectAndDecodeMulti(frame)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1B4E"/>
          </a:solidFill>
          <a:ln w="12700">
            <a:solidFill>
              <a:srgbClr val="021B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Evaluation Metrics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1965960" cy="1828800"/>
          </a:xfrm>
          <a:prstGeom prst="roundRect">
            <a:avLst>
              <a:gd name="adj" fmla="val 5000"/>
            </a:avLst>
          </a:prstGeom>
          <a:solidFill>
            <a:srgbClr val="0D47A1"/>
          </a:solidFill>
          <a:ln w="12700">
            <a:solidFill>
              <a:srgbClr val="90CAF9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5156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11480" y="187452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Accuracy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233172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/ 50 detected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514600" y="960120"/>
            <a:ext cx="1965960" cy="1828800"/>
          </a:xfrm>
          <a:prstGeom prst="roundRect">
            <a:avLst>
              <a:gd name="adj" fmla="val 5000"/>
            </a:avLst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14600" y="105156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2560320" y="187452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FPS (real-time)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560320" y="233172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Frames per second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63440" y="960120"/>
            <a:ext cx="1965960" cy="1828800"/>
          </a:xfrm>
          <a:prstGeom prst="roundRect">
            <a:avLst>
              <a:gd name="adj" fmla="val 5000"/>
            </a:avLst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63440" y="105156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~36ms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4709160" y="187452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Decode Time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09160" y="233172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image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812280" y="960120"/>
            <a:ext cx="1965960" cy="1828800"/>
          </a:xfrm>
          <a:prstGeom prst="roundRect">
            <a:avLst>
              <a:gd name="adj" fmla="val 5000"/>
            </a:avLst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12280" y="105156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6858000" y="187452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 Rate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858000" y="233172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false alarms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2971800"/>
            <a:ext cx="8412480" cy="1783080"/>
          </a:xfrm>
          <a:prstGeom prst="roundRect">
            <a:avLst>
              <a:gd name="adj" fmla="val 4103"/>
            </a:avLst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0632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Analysis — 3 undetected images: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3429000"/>
            <a:ext cx="8046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Extreme motion blur (camera shake during capture)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Very small codes &lt; 40×40 pixels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Partial occlusion of QR finder patterns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1B4E"/>
          </a:solidFill>
          <a:ln w="12700">
            <a:solidFill>
              <a:srgbClr val="021B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554480"/>
          </a:xfrm>
          <a:prstGeom prst="roundRect">
            <a:avLst>
              <a:gd name="adj" fmla="val 4706"/>
            </a:avLst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02412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Conclusion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389888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implemented a QR Code &amp; Barcode Detection System with 94% accuracy and real-time 27 FPS performance — using only Python and OpenCV, no GPU required.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2697480"/>
            <a:ext cx="411480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90CAF9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2697480"/>
            <a:ext cx="38404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WeChatQRCode deep learning model for degraded images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2697480"/>
            <a:ext cx="411480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90CAF9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00600" y="2697480"/>
            <a:ext cx="38404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ZBar integration for 1-D barcodes (EAN-13, Code 128)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3703320"/>
            <a:ext cx="411480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90CAF9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" y="3703320"/>
            <a:ext cx="38404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  REST API deployment (FastAPI) for cloud scanning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3703320"/>
            <a:ext cx="411480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90CAF9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00600" y="3703320"/>
            <a:ext cx="38404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 Database logging of scanned codes with timestamps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21B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4572000" cy="4572000"/>
          </a:xfrm>
          <a:prstGeom prst="ellipse">
            <a:avLst/>
          </a:prstGeom>
          <a:solidFill>
            <a:srgbClr val="0D47A1">
              <a:alpha val="30000"/>
            </a:srgbClr>
          </a:solidFill>
          <a:ln w="12700">
            <a:solidFill>
              <a:srgbClr val="0D47A1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1976D2">
              <a:alpha val="40000"/>
            </a:srgbClr>
          </a:solidFill>
          <a:ln w="12700">
            <a:solidFill>
              <a:srgbClr val="1976D2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3291840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Ismoil Rahimov  |  ID: 230514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71600" y="3675888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Module: Image Processing — CAU Spring 2025–2026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71600" y="4059936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 Stack: Python 3.10 · OpenCV 4.8 · NumPy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71600" y="4443984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Result: 94% accuracy · 27 FPS real-time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QR Code &amp; Barcode Detection</dc:title>
  <dc:subject>PptxGenJS Presentation</dc:subject>
  <dc:creator>Ismoil Rahimov</dc:creator>
  <cp:lastModifiedBy>Ismoil Rahimov</cp:lastModifiedBy>
  <cp:revision>1</cp:revision>
  <dcterms:created xsi:type="dcterms:W3CDTF">2026-06-11T00:45:58Z</dcterms:created>
  <dcterms:modified xsi:type="dcterms:W3CDTF">2026-06-11T00:45:58Z</dcterms:modified>
</cp:coreProperties>
</file>